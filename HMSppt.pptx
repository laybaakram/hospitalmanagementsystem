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5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4630400" cy="8229600"/>
  <p:notesSz cx="8229600" cy="146304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Alice" panose="020B0604020202020204" charset="0"/>
      <p:regular r:id="rId27"/>
    </p:embeddedFont>
    <p:embeddedFont>
      <p:font typeface="Lora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5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6359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-5-8.svg"/><Relationship Id="rId3" Type="http://schemas.openxmlformats.org/officeDocument/2006/relationships/image" Target="../media/image2.png"/><Relationship Id="rId12" Type="http://schemas.openxmlformats.org/officeDocument/2006/relationships/image" Target="../media/image-5-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-5-6.svg"/><Relationship Id="rId5" Type="http://schemas.openxmlformats.org/officeDocument/2006/relationships/image" Target="../media/image-5-4.svg"/><Relationship Id="rId10" Type="http://schemas.openxmlformats.org/officeDocument/2006/relationships/image" Target="../media/image-5-10.svg"/><Relationship Id="rId4" Type="http://schemas.openxmlformats.org/officeDocument/2006/relationships/image" Target="../media/image-5-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-8-8.svg"/><Relationship Id="rId3" Type="http://schemas.openxmlformats.org/officeDocument/2006/relationships/image" Target="../media/image2.png"/><Relationship Id="rId12" Type="http://schemas.openxmlformats.org/officeDocument/2006/relationships/image" Target="../media/image-8-12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-8-16.sv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-8-6.svg"/><Relationship Id="rId5" Type="http://schemas.openxmlformats.org/officeDocument/2006/relationships/image" Target="../media/image-8-4.svg"/><Relationship Id="rId10" Type="http://schemas.openxmlformats.org/officeDocument/2006/relationships/image" Target="../media/image-8-10.svg"/><Relationship Id="rId4" Type="http://schemas.openxmlformats.org/officeDocument/2006/relationships/image" Target="../media/image-8-2.svg"/><Relationship Id="rId14" Type="http://schemas.openxmlformats.org/officeDocument/2006/relationships/image" Target="../media/image-8-14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-4-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-4-5.svg"/><Relationship Id="rId5" Type="http://schemas.openxmlformats.org/officeDocument/2006/relationships/image" Target="../media/image-4-3.svg"/><Relationship Id="rId4" Type="http://schemas.openxmlformats.org/officeDocument/2006/relationships/image" Target="../media/image2.png"/><Relationship Id="rId9" Type="http://schemas.openxmlformats.org/officeDocument/2006/relationships/image" Target="../media/image-4-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-10-8.svg"/><Relationship Id="rId3" Type="http://schemas.openxmlformats.org/officeDocument/2006/relationships/image" Target="../media/image2.png"/><Relationship Id="rId12" Type="http://schemas.openxmlformats.org/officeDocument/2006/relationships/image" Target="../media/image-10-12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-10-6.svg"/><Relationship Id="rId5" Type="http://schemas.openxmlformats.org/officeDocument/2006/relationships/image" Target="../media/image-10-4.svg"/><Relationship Id="rId10" Type="http://schemas.openxmlformats.org/officeDocument/2006/relationships/image" Target="../media/image-10-10.svg"/><Relationship Id="rId4" Type="http://schemas.openxmlformats.org/officeDocument/2006/relationships/image" Target="../media/image-10-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80569" y="3160061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HOSPITAL MANAGEMENT DATABASE SYSTEM - </a:t>
            </a:r>
            <a:endParaRPr lang="en-US" sz="445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8411"/>
          <a:stretch/>
        </p:blipFill>
        <p:spPr>
          <a:xfrm>
            <a:off x="0" y="0"/>
            <a:ext cx="7036231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5438" y="548045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5438" y="1112758"/>
            <a:ext cx="13339524" cy="230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50"/>
              </a:lnSpc>
              <a:buNone/>
            </a:pPr>
            <a:r>
              <a:rPr lang="en-US" sz="7250" dirty="0">
                <a:solidFill>
                  <a:srgbClr val="1B5F39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HOSPITAL MANAGEMENT</a:t>
            </a:r>
            <a:r>
              <a:rPr lang="en-US" sz="72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DATABASE SYSTEM</a:t>
            </a:r>
            <a:endParaRPr lang="en-US" sz="7250" dirty="0"/>
          </a:p>
        </p:txBody>
      </p:sp>
      <p:sp>
        <p:nvSpPr>
          <p:cNvPr id="4" name="Text 2"/>
          <p:cNvSpPr/>
          <p:nvPr/>
        </p:nvSpPr>
        <p:spPr>
          <a:xfrm>
            <a:off x="645438" y="3694390"/>
            <a:ext cx="9050298" cy="461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 Comprehensive Solution for Healthcare Management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5438" y="4431983"/>
            <a:ext cx="13339524" cy="368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Presented by: Layba &amp; Marwa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5438" y="5008126"/>
            <a:ext cx="13339524" cy="368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Group: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5438" y="5584269"/>
            <a:ext cx="13339524" cy="368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Course: BAI-443 Database Systems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5438" y="6160413"/>
            <a:ext cx="13339524" cy="368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Supervisor: Mr. Anwar Ali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5438" y="6736556"/>
            <a:ext cx="13339524" cy="368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Department of Computer Science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5438" y="7312700"/>
            <a:ext cx="13339524" cy="368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BBSUL </a:t>
            </a:r>
            <a:r>
              <a:rPr lang="en-US" sz="1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University, Karachi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828" y="569000"/>
            <a:ext cx="2581870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B5F39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AGENDA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22828" y="974288"/>
            <a:ext cx="5163860" cy="645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Presentation Agenda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722828" y="1929527"/>
            <a:ext cx="464701" cy="464701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5" name="Text 3"/>
          <p:cNvSpPr/>
          <p:nvPr/>
        </p:nvSpPr>
        <p:spPr>
          <a:xfrm>
            <a:off x="1393984" y="1968222"/>
            <a:ext cx="4889659" cy="38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Introduction &amp; Problem Statement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22828" y="2807256"/>
            <a:ext cx="464701" cy="464701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7" name="Text 5"/>
          <p:cNvSpPr/>
          <p:nvPr/>
        </p:nvSpPr>
        <p:spPr>
          <a:xfrm>
            <a:off x="1393984" y="2845951"/>
            <a:ext cx="4225171" cy="38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System Design &amp; Architecture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22828" y="3684984"/>
            <a:ext cx="464701" cy="464701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9" name="Text 7"/>
          <p:cNvSpPr/>
          <p:nvPr/>
        </p:nvSpPr>
        <p:spPr>
          <a:xfrm>
            <a:off x="1393984" y="3723680"/>
            <a:ext cx="4500801" cy="38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Database Schema &amp; ER Diagram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22828" y="4562713"/>
            <a:ext cx="464701" cy="464701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11" name="Text 9"/>
          <p:cNvSpPr/>
          <p:nvPr/>
        </p:nvSpPr>
        <p:spPr>
          <a:xfrm>
            <a:off x="1393984" y="4601408"/>
            <a:ext cx="3372564" cy="38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Features &amp; Modules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22828" y="5440442"/>
            <a:ext cx="464701" cy="464701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13" name="Text 11"/>
          <p:cNvSpPr/>
          <p:nvPr/>
        </p:nvSpPr>
        <p:spPr>
          <a:xfrm>
            <a:off x="1393984" y="5479137"/>
            <a:ext cx="3294221" cy="38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Implementation Details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22828" y="6318171"/>
            <a:ext cx="464701" cy="464701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15" name="Text 13"/>
          <p:cNvSpPr/>
          <p:nvPr/>
        </p:nvSpPr>
        <p:spPr>
          <a:xfrm>
            <a:off x="1393984" y="6356866"/>
            <a:ext cx="3098244" cy="38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Testing &amp; Results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22828" y="7195899"/>
            <a:ext cx="464701" cy="464701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17" name="Text 15"/>
          <p:cNvSpPr/>
          <p:nvPr/>
        </p:nvSpPr>
        <p:spPr>
          <a:xfrm>
            <a:off x="1393984" y="7234595"/>
            <a:ext cx="3703439" cy="38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Conclusion &amp; Future Work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049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5F39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215003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Why This System?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198971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198971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456265"/>
            <a:ext cx="32494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Inefficient Paper Systems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3946684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Traditional paper-based systems are inefficient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198971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6482" y="3198971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10" name="Text 8"/>
          <p:cNvSpPr/>
          <p:nvPr/>
        </p:nvSpPr>
        <p:spPr>
          <a:xfrm>
            <a:off x="5565696" y="34562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Manual Errors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65696" y="3946684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Manual processes lead to errors and delays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198971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9653" y="3198971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14" name="Text 12"/>
          <p:cNvSpPr/>
          <p:nvPr/>
        </p:nvSpPr>
        <p:spPr>
          <a:xfrm>
            <a:off x="9988868" y="34562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Fragmented Data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988868" y="3946684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centralized patient information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156597"/>
            <a:ext cx="4196358" cy="1367909"/>
          </a:xfrm>
          <a:prstGeom prst="roundRect">
            <a:avLst>
              <a:gd name="adj" fmla="val 10695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3310" y="5156597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18" name="Text 16"/>
          <p:cNvSpPr/>
          <p:nvPr/>
        </p:nvSpPr>
        <p:spPr>
          <a:xfrm>
            <a:off x="1142524" y="54138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Reporting Difficulty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42524" y="5904309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Difficulty in generating reports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5216962" y="5156597"/>
            <a:ext cx="4196358" cy="1367909"/>
          </a:xfrm>
          <a:prstGeom prst="roundRect">
            <a:avLst>
              <a:gd name="adj" fmla="val 10695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86482" y="5156597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22" name="Text 20"/>
          <p:cNvSpPr/>
          <p:nvPr/>
        </p:nvSpPr>
        <p:spPr>
          <a:xfrm>
            <a:off x="5565696" y="54138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Security Concerns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65696" y="5904309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Security and privacy concerns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5081" y="506849"/>
            <a:ext cx="242816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B5F39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5081" y="868442"/>
            <a:ext cx="4608195" cy="57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Challenges: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137" y="1726466"/>
            <a:ext cx="276463" cy="2764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44084" y="1720810"/>
            <a:ext cx="2778204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Slow Information Retrieval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244084" y="2119193"/>
            <a:ext cx="12741235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Slow information retrieval (5+ minutes)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4137" y="2788265"/>
            <a:ext cx="276463" cy="2764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44084" y="2782610"/>
            <a:ext cx="2304098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 Redundancy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244084" y="3180993"/>
            <a:ext cx="12741235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redundancy and inconsistency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137" y="3850065"/>
            <a:ext cx="276463" cy="2764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44084" y="3844409"/>
            <a:ext cx="2304098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Billing Errors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1244084" y="4242792"/>
            <a:ext cx="12741235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Manual billing calculations with errors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4137" y="4911864"/>
            <a:ext cx="276463" cy="27646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44084" y="4906208"/>
            <a:ext cx="2521506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No Recovery Mechanism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1244084" y="5304592"/>
            <a:ext cx="12741235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backup and recovery mechanism</a:t>
            </a:r>
            <a:endParaRPr lang="en-US" sz="14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4137" y="5973663"/>
            <a:ext cx="276463" cy="27646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44084" y="5968008"/>
            <a:ext cx="2304098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Limited Scalability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1244084" y="6366391"/>
            <a:ext cx="12741235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Limited scalability</a:t>
            </a:r>
            <a:endParaRPr lang="en-US" sz="14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4137" y="7035463"/>
            <a:ext cx="276463" cy="27646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44084" y="7029807"/>
            <a:ext cx="2804517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Lack of Real-time Analytics</a:t>
            </a:r>
            <a:endParaRPr lang="en-US" sz="1800" dirty="0"/>
          </a:p>
        </p:txBody>
      </p:sp>
      <p:sp>
        <p:nvSpPr>
          <p:cNvPr id="21" name="Text 13"/>
          <p:cNvSpPr/>
          <p:nvPr/>
        </p:nvSpPr>
        <p:spPr>
          <a:xfrm>
            <a:off x="1244084" y="7428190"/>
            <a:ext cx="12741235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Lack of real-time analytics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0442" y="535305"/>
            <a:ext cx="2430304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1B5F39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PROJECT OBJECTIVES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80442" y="916781"/>
            <a:ext cx="4860727" cy="607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Project Objectives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0442" y="2107525"/>
            <a:ext cx="4293513" cy="1745575"/>
          </a:xfrm>
          <a:prstGeom prst="roundRect">
            <a:avLst>
              <a:gd name="adj" fmla="val 6286"/>
            </a:avLst>
          </a:prstGeom>
          <a:solidFill>
            <a:srgbClr val="FCFBF8"/>
          </a:solidFill>
          <a:ln/>
        </p:spPr>
      </p:sp>
      <p:sp>
        <p:nvSpPr>
          <p:cNvPr id="5" name="Shape 3"/>
          <p:cNvSpPr/>
          <p:nvPr/>
        </p:nvSpPr>
        <p:spPr>
          <a:xfrm>
            <a:off x="680442" y="2084665"/>
            <a:ext cx="4293513" cy="91440"/>
          </a:xfrm>
          <a:prstGeom prst="roundRect">
            <a:avLst>
              <a:gd name="adj" fmla="val 31895"/>
            </a:avLst>
          </a:prstGeom>
          <a:solidFill>
            <a:srgbClr val="1B5F39"/>
          </a:solidFill>
          <a:ln/>
        </p:spPr>
      </p:sp>
      <p:sp>
        <p:nvSpPr>
          <p:cNvPr id="6" name="Shape 4"/>
          <p:cNvSpPr/>
          <p:nvPr/>
        </p:nvSpPr>
        <p:spPr>
          <a:xfrm>
            <a:off x="2535495" y="1815941"/>
            <a:ext cx="583287" cy="583287"/>
          </a:xfrm>
          <a:prstGeom prst="roundRect">
            <a:avLst>
              <a:gd name="adj" fmla="val 156767"/>
            </a:avLst>
          </a:prstGeom>
          <a:solidFill>
            <a:srgbClr val="1B5F39"/>
          </a:solidFill>
          <a:ln/>
        </p:spPr>
      </p:sp>
      <p:sp>
        <p:nvSpPr>
          <p:cNvPr id="7" name="Text 5"/>
          <p:cNvSpPr/>
          <p:nvPr/>
        </p:nvSpPr>
        <p:spPr>
          <a:xfrm>
            <a:off x="2710517" y="1961793"/>
            <a:ext cx="233243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7731" y="2593538"/>
            <a:ext cx="2430304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Database Design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97731" y="3013829"/>
            <a:ext cx="3858935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Design normalized database (3NF/BCNF)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168384" y="2107525"/>
            <a:ext cx="4293513" cy="1745575"/>
          </a:xfrm>
          <a:prstGeom prst="roundRect">
            <a:avLst>
              <a:gd name="adj" fmla="val 6286"/>
            </a:avLst>
          </a:prstGeom>
          <a:solidFill>
            <a:srgbClr val="FCFBF8"/>
          </a:solidFill>
          <a:ln/>
        </p:spPr>
      </p:sp>
      <p:sp>
        <p:nvSpPr>
          <p:cNvPr id="11" name="Shape 9"/>
          <p:cNvSpPr/>
          <p:nvPr/>
        </p:nvSpPr>
        <p:spPr>
          <a:xfrm>
            <a:off x="5168384" y="2084665"/>
            <a:ext cx="4293513" cy="91440"/>
          </a:xfrm>
          <a:prstGeom prst="roundRect">
            <a:avLst>
              <a:gd name="adj" fmla="val 31895"/>
            </a:avLst>
          </a:prstGeom>
          <a:solidFill>
            <a:srgbClr val="1B5F39"/>
          </a:solidFill>
          <a:ln/>
        </p:spPr>
      </p:sp>
      <p:sp>
        <p:nvSpPr>
          <p:cNvPr id="12" name="Shape 10"/>
          <p:cNvSpPr/>
          <p:nvPr/>
        </p:nvSpPr>
        <p:spPr>
          <a:xfrm>
            <a:off x="7023437" y="1815941"/>
            <a:ext cx="583287" cy="583287"/>
          </a:xfrm>
          <a:prstGeom prst="roundRect">
            <a:avLst>
              <a:gd name="adj" fmla="val 156767"/>
            </a:avLst>
          </a:prstGeom>
          <a:solidFill>
            <a:srgbClr val="1B5F39"/>
          </a:solidFill>
          <a:ln/>
        </p:spPr>
      </p:sp>
      <p:sp>
        <p:nvSpPr>
          <p:cNvPr id="13" name="Text 11"/>
          <p:cNvSpPr/>
          <p:nvPr/>
        </p:nvSpPr>
        <p:spPr>
          <a:xfrm>
            <a:off x="7198459" y="1961793"/>
            <a:ext cx="233243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85673" y="2593538"/>
            <a:ext cx="2430304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Patient Automation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385673" y="3013829"/>
            <a:ext cx="3858935" cy="621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Automate patient registration &amp; management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656326" y="2107525"/>
            <a:ext cx="4293513" cy="1745575"/>
          </a:xfrm>
          <a:prstGeom prst="roundRect">
            <a:avLst>
              <a:gd name="adj" fmla="val 6286"/>
            </a:avLst>
          </a:prstGeom>
          <a:solidFill>
            <a:srgbClr val="FCFBF8"/>
          </a:solidFill>
          <a:ln/>
        </p:spPr>
      </p:sp>
      <p:sp>
        <p:nvSpPr>
          <p:cNvPr id="17" name="Shape 15"/>
          <p:cNvSpPr/>
          <p:nvPr/>
        </p:nvSpPr>
        <p:spPr>
          <a:xfrm>
            <a:off x="9656326" y="2084665"/>
            <a:ext cx="4293513" cy="91440"/>
          </a:xfrm>
          <a:prstGeom prst="roundRect">
            <a:avLst>
              <a:gd name="adj" fmla="val 31895"/>
            </a:avLst>
          </a:prstGeom>
          <a:solidFill>
            <a:srgbClr val="1B5F39"/>
          </a:solidFill>
          <a:ln/>
        </p:spPr>
      </p:sp>
      <p:sp>
        <p:nvSpPr>
          <p:cNvPr id="18" name="Shape 16"/>
          <p:cNvSpPr/>
          <p:nvPr/>
        </p:nvSpPr>
        <p:spPr>
          <a:xfrm>
            <a:off x="11511379" y="1815941"/>
            <a:ext cx="583287" cy="583287"/>
          </a:xfrm>
          <a:prstGeom prst="roundRect">
            <a:avLst>
              <a:gd name="adj" fmla="val 156767"/>
            </a:avLst>
          </a:prstGeom>
          <a:solidFill>
            <a:srgbClr val="1B5F39"/>
          </a:solidFill>
          <a:ln/>
        </p:spPr>
      </p:sp>
      <p:sp>
        <p:nvSpPr>
          <p:cNvPr id="19" name="Text 17"/>
          <p:cNvSpPr/>
          <p:nvPr/>
        </p:nvSpPr>
        <p:spPr>
          <a:xfrm>
            <a:off x="11686401" y="1961793"/>
            <a:ext cx="233243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873615" y="2593538"/>
            <a:ext cx="2715339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Appointment Scheduling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873615" y="3013829"/>
            <a:ext cx="3858935" cy="621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Implement appointment scheduling system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0442" y="4339114"/>
            <a:ext cx="4293513" cy="1434584"/>
          </a:xfrm>
          <a:prstGeom prst="roundRect">
            <a:avLst>
              <a:gd name="adj" fmla="val 7649"/>
            </a:avLst>
          </a:prstGeom>
          <a:solidFill>
            <a:srgbClr val="FCFBF8"/>
          </a:solidFill>
          <a:ln/>
        </p:spPr>
      </p:sp>
      <p:sp>
        <p:nvSpPr>
          <p:cNvPr id="23" name="Shape 21"/>
          <p:cNvSpPr/>
          <p:nvPr/>
        </p:nvSpPr>
        <p:spPr>
          <a:xfrm>
            <a:off x="680442" y="4316254"/>
            <a:ext cx="4293513" cy="91440"/>
          </a:xfrm>
          <a:prstGeom prst="roundRect">
            <a:avLst>
              <a:gd name="adj" fmla="val 31895"/>
            </a:avLst>
          </a:prstGeom>
          <a:solidFill>
            <a:srgbClr val="1B5F39"/>
          </a:solidFill>
          <a:ln/>
        </p:spPr>
      </p:sp>
      <p:sp>
        <p:nvSpPr>
          <p:cNvPr id="24" name="Shape 22"/>
          <p:cNvSpPr/>
          <p:nvPr/>
        </p:nvSpPr>
        <p:spPr>
          <a:xfrm>
            <a:off x="2535495" y="4047530"/>
            <a:ext cx="583287" cy="583287"/>
          </a:xfrm>
          <a:prstGeom prst="roundRect">
            <a:avLst>
              <a:gd name="adj" fmla="val 156767"/>
            </a:avLst>
          </a:prstGeom>
          <a:solidFill>
            <a:srgbClr val="1B5F39"/>
          </a:solidFill>
          <a:ln/>
        </p:spPr>
      </p:sp>
      <p:sp>
        <p:nvSpPr>
          <p:cNvPr id="25" name="Text 23"/>
          <p:cNvSpPr/>
          <p:nvPr/>
        </p:nvSpPr>
        <p:spPr>
          <a:xfrm>
            <a:off x="2710517" y="4193381"/>
            <a:ext cx="233243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97731" y="4825127"/>
            <a:ext cx="2430304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Financial Tracking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97731" y="5245418"/>
            <a:ext cx="3858935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Create billing &amp; payment tracking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168384" y="4339114"/>
            <a:ext cx="4293513" cy="1434584"/>
          </a:xfrm>
          <a:prstGeom prst="roundRect">
            <a:avLst>
              <a:gd name="adj" fmla="val 7649"/>
            </a:avLst>
          </a:prstGeom>
          <a:solidFill>
            <a:srgbClr val="FCFBF8"/>
          </a:solidFill>
          <a:ln/>
        </p:spPr>
      </p:sp>
      <p:sp>
        <p:nvSpPr>
          <p:cNvPr id="29" name="Shape 27"/>
          <p:cNvSpPr/>
          <p:nvPr/>
        </p:nvSpPr>
        <p:spPr>
          <a:xfrm>
            <a:off x="5168384" y="4316254"/>
            <a:ext cx="4293513" cy="91440"/>
          </a:xfrm>
          <a:prstGeom prst="roundRect">
            <a:avLst>
              <a:gd name="adj" fmla="val 31895"/>
            </a:avLst>
          </a:prstGeom>
          <a:solidFill>
            <a:srgbClr val="1B5F39"/>
          </a:solidFill>
          <a:ln/>
        </p:spPr>
      </p:sp>
      <p:sp>
        <p:nvSpPr>
          <p:cNvPr id="30" name="Shape 28"/>
          <p:cNvSpPr/>
          <p:nvPr/>
        </p:nvSpPr>
        <p:spPr>
          <a:xfrm>
            <a:off x="7023437" y="4047530"/>
            <a:ext cx="583287" cy="583287"/>
          </a:xfrm>
          <a:prstGeom prst="roundRect">
            <a:avLst>
              <a:gd name="adj" fmla="val 156767"/>
            </a:avLst>
          </a:prstGeom>
          <a:solidFill>
            <a:srgbClr val="1B5F39"/>
          </a:solidFill>
          <a:ln/>
        </p:spPr>
      </p:sp>
      <p:sp>
        <p:nvSpPr>
          <p:cNvPr id="31" name="Text 29"/>
          <p:cNvSpPr/>
          <p:nvPr/>
        </p:nvSpPr>
        <p:spPr>
          <a:xfrm>
            <a:off x="7198459" y="4193381"/>
            <a:ext cx="233243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85673" y="4825127"/>
            <a:ext cx="2430304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Medical Records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5385673" y="5245418"/>
            <a:ext cx="3858935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Develop medical records management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656326" y="4339114"/>
            <a:ext cx="4293513" cy="1434584"/>
          </a:xfrm>
          <a:prstGeom prst="roundRect">
            <a:avLst>
              <a:gd name="adj" fmla="val 7649"/>
            </a:avLst>
          </a:prstGeom>
          <a:solidFill>
            <a:srgbClr val="FCFBF8"/>
          </a:solidFill>
          <a:ln/>
        </p:spPr>
      </p:sp>
      <p:sp>
        <p:nvSpPr>
          <p:cNvPr id="35" name="Shape 33"/>
          <p:cNvSpPr/>
          <p:nvPr/>
        </p:nvSpPr>
        <p:spPr>
          <a:xfrm>
            <a:off x="9656326" y="4316254"/>
            <a:ext cx="4293513" cy="91440"/>
          </a:xfrm>
          <a:prstGeom prst="roundRect">
            <a:avLst>
              <a:gd name="adj" fmla="val 31895"/>
            </a:avLst>
          </a:prstGeom>
          <a:solidFill>
            <a:srgbClr val="1B5F39"/>
          </a:solidFill>
          <a:ln/>
        </p:spPr>
      </p:sp>
      <p:sp>
        <p:nvSpPr>
          <p:cNvPr id="36" name="Shape 34"/>
          <p:cNvSpPr/>
          <p:nvPr/>
        </p:nvSpPr>
        <p:spPr>
          <a:xfrm>
            <a:off x="11511379" y="4047530"/>
            <a:ext cx="583287" cy="583287"/>
          </a:xfrm>
          <a:prstGeom prst="roundRect">
            <a:avLst>
              <a:gd name="adj" fmla="val 156767"/>
            </a:avLst>
          </a:prstGeom>
          <a:solidFill>
            <a:srgbClr val="1B5F39"/>
          </a:solidFill>
          <a:ln/>
        </p:spPr>
      </p:sp>
      <p:sp>
        <p:nvSpPr>
          <p:cNvPr id="37" name="Text 35"/>
          <p:cNvSpPr/>
          <p:nvPr/>
        </p:nvSpPr>
        <p:spPr>
          <a:xfrm>
            <a:off x="11686401" y="4193381"/>
            <a:ext cx="233243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873615" y="4825127"/>
            <a:ext cx="2430304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 Security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9873615" y="5245418"/>
            <a:ext cx="3858935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Ensure data security with encryption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80442" y="6259711"/>
            <a:ext cx="13269397" cy="1434584"/>
          </a:xfrm>
          <a:prstGeom prst="roundRect">
            <a:avLst>
              <a:gd name="adj" fmla="val 7649"/>
            </a:avLst>
          </a:prstGeom>
          <a:solidFill>
            <a:srgbClr val="FCFBF8"/>
          </a:solidFill>
          <a:ln/>
        </p:spPr>
      </p:sp>
      <p:sp>
        <p:nvSpPr>
          <p:cNvPr id="41" name="Shape 39"/>
          <p:cNvSpPr/>
          <p:nvPr/>
        </p:nvSpPr>
        <p:spPr>
          <a:xfrm>
            <a:off x="680442" y="6236851"/>
            <a:ext cx="13269397" cy="91440"/>
          </a:xfrm>
          <a:prstGeom prst="roundRect">
            <a:avLst>
              <a:gd name="adj" fmla="val 31895"/>
            </a:avLst>
          </a:prstGeom>
          <a:solidFill>
            <a:srgbClr val="1B5F39"/>
          </a:solidFill>
          <a:ln/>
        </p:spPr>
      </p:sp>
      <p:sp>
        <p:nvSpPr>
          <p:cNvPr id="42" name="Shape 40"/>
          <p:cNvSpPr/>
          <p:nvPr/>
        </p:nvSpPr>
        <p:spPr>
          <a:xfrm>
            <a:off x="7023437" y="5968127"/>
            <a:ext cx="583287" cy="583287"/>
          </a:xfrm>
          <a:prstGeom prst="roundRect">
            <a:avLst>
              <a:gd name="adj" fmla="val 156767"/>
            </a:avLst>
          </a:prstGeom>
          <a:solidFill>
            <a:srgbClr val="1B5F39"/>
          </a:solidFill>
          <a:ln/>
        </p:spPr>
      </p:sp>
      <p:sp>
        <p:nvSpPr>
          <p:cNvPr id="43" name="Text 41"/>
          <p:cNvSpPr/>
          <p:nvPr/>
        </p:nvSpPr>
        <p:spPr>
          <a:xfrm>
            <a:off x="7198459" y="6113978"/>
            <a:ext cx="233243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7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97731" y="6745724"/>
            <a:ext cx="2430304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Real-time Reporting</a:t>
            </a:r>
            <a:endParaRPr lang="en-US" sz="1900" dirty="0"/>
          </a:p>
        </p:txBody>
      </p:sp>
      <p:sp>
        <p:nvSpPr>
          <p:cNvPr id="45" name="Text 43"/>
          <p:cNvSpPr/>
          <p:nvPr/>
        </p:nvSpPr>
        <p:spPr>
          <a:xfrm>
            <a:off x="897731" y="7166015"/>
            <a:ext cx="12834818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Generate real-time reports &amp; analytics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9224"/>
            <a:ext cx="32194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5F39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85427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Technology Stack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2903220"/>
            <a:ext cx="13042821" cy="3917156"/>
          </a:xfrm>
          <a:prstGeom prst="roundRect">
            <a:avLst>
              <a:gd name="adj" fmla="val 86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91084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343" y="3054548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Component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940379" y="3054548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Technology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561159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343" y="3704868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Database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940379" y="3704868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MySQL 8.0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4211479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28343" y="4355187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Backend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4940379" y="4355187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PHP 7.4+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4861798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343" y="5005507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Frontend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940379" y="5005507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HTML5, CSS3, JavaScript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551211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8343" y="5655826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Framework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4940379" y="5655826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Bootstrap 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6162437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343" y="6306145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Web Server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940379" y="6306145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Apache/Nginx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2209" y="418147"/>
            <a:ext cx="1900714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1B5F39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DATABASE DESIGN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32209" y="716399"/>
            <a:ext cx="3801547" cy="47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Entities:</a:t>
            </a:r>
            <a:endParaRPr lang="en-US" sz="2950" dirty="0"/>
          </a:p>
        </p:txBody>
      </p:sp>
      <p:sp>
        <p:nvSpPr>
          <p:cNvPr id="4" name="Shape 2"/>
          <p:cNvSpPr/>
          <p:nvPr/>
        </p:nvSpPr>
        <p:spPr>
          <a:xfrm>
            <a:off x="532209" y="1419582"/>
            <a:ext cx="6706910" cy="1484233"/>
          </a:xfrm>
          <a:prstGeom prst="roundRect">
            <a:avLst>
              <a:gd name="adj" fmla="val 1537"/>
            </a:avLst>
          </a:prstGeom>
          <a:solidFill>
            <a:srgbClr val="F0EDE6"/>
          </a:solidFill>
          <a:ln/>
        </p:spPr>
      </p:sp>
      <p:sp>
        <p:nvSpPr>
          <p:cNvPr id="5" name="Shape 3"/>
          <p:cNvSpPr/>
          <p:nvPr/>
        </p:nvSpPr>
        <p:spPr>
          <a:xfrm>
            <a:off x="684252" y="1571625"/>
            <a:ext cx="456128" cy="456128"/>
          </a:xfrm>
          <a:prstGeom prst="roundRect">
            <a:avLst>
              <a:gd name="adj" fmla="val 20045000"/>
            </a:avLst>
          </a:prstGeom>
          <a:solidFill>
            <a:srgbClr val="1B5F3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625" y="1696998"/>
            <a:ext cx="205264" cy="2052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4252" y="2179796"/>
            <a:ext cx="1900714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PATIENT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84252" y="2508528"/>
            <a:ext cx="6402824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Patient demographics &amp; medical info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91162" y="1419582"/>
            <a:ext cx="6707029" cy="1484233"/>
          </a:xfrm>
          <a:prstGeom prst="roundRect">
            <a:avLst>
              <a:gd name="adj" fmla="val 1537"/>
            </a:avLst>
          </a:prstGeom>
          <a:solidFill>
            <a:srgbClr val="F0EDE6"/>
          </a:solidFill>
          <a:ln/>
        </p:spPr>
      </p:sp>
      <p:sp>
        <p:nvSpPr>
          <p:cNvPr id="10" name="Shape 7"/>
          <p:cNvSpPr/>
          <p:nvPr/>
        </p:nvSpPr>
        <p:spPr>
          <a:xfrm>
            <a:off x="7543205" y="1571625"/>
            <a:ext cx="456128" cy="456128"/>
          </a:xfrm>
          <a:prstGeom prst="roundRect">
            <a:avLst>
              <a:gd name="adj" fmla="val 20045000"/>
            </a:avLst>
          </a:prstGeom>
          <a:solidFill>
            <a:srgbClr val="1B5F3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68578" y="1696998"/>
            <a:ext cx="205264" cy="2052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205" y="2179796"/>
            <a:ext cx="1900714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DOCTOR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543205" y="2508528"/>
            <a:ext cx="6402943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Doctor profiles &amp; specializations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32209" y="3055858"/>
            <a:ext cx="6706910" cy="1484233"/>
          </a:xfrm>
          <a:prstGeom prst="roundRect">
            <a:avLst>
              <a:gd name="adj" fmla="val 1537"/>
            </a:avLst>
          </a:prstGeom>
          <a:solidFill>
            <a:srgbClr val="F0EDE6"/>
          </a:solidFill>
          <a:ln/>
        </p:spPr>
      </p:sp>
      <p:sp>
        <p:nvSpPr>
          <p:cNvPr id="15" name="Shape 11"/>
          <p:cNvSpPr/>
          <p:nvPr/>
        </p:nvSpPr>
        <p:spPr>
          <a:xfrm>
            <a:off x="684252" y="3207901"/>
            <a:ext cx="456128" cy="456128"/>
          </a:xfrm>
          <a:prstGeom prst="roundRect">
            <a:avLst>
              <a:gd name="adj" fmla="val 20045000"/>
            </a:avLst>
          </a:prstGeom>
          <a:solidFill>
            <a:srgbClr val="1B5F39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9625" y="3333274"/>
            <a:ext cx="205264" cy="2052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4252" y="3816072"/>
            <a:ext cx="1900714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APPOINTMENT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84252" y="4144804"/>
            <a:ext cx="6402824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Scheduling management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391162" y="3055858"/>
            <a:ext cx="6707029" cy="1484233"/>
          </a:xfrm>
          <a:prstGeom prst="roundRect">
            <a:avLst>
              <a:gd name="adj" fmla="val 1537"/>
            </a:avLst>
          </a:prstGeom>
          <a:solidFill>
            <a:srgbClr val="F0EDE6"/>
          </a:solidFill>
          <a:ln/>
        </p:spPr>
      </p:sp>
      <p:sp>
        <p:nvSpPr>
          <p:cNvPr id="20" name="Shape 15"/>
          <p:cNvSpPr/>
          <p:nvPr/>
        </p:nvSpPr>
        <p:spPr>
          <a:xfrm>
            <a:off x="7543205" y="3207901"/>
            <a:ext cx="456128" cy="456128"/>
          </a:xfrm>
          <a:prstGeom prst="roundRect">
            <a:avLst>
              <a:gd name="adj" fmla="val 20045000"/>
            </a:avLst>
          </a:prstGeom>
          <a:solidFill>
            <a:srgbClr val="1B5F39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68578" y="3333274"/>
            <a:ext cx="205264" cy="2052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205" y="3816072"/>
            <a:ext cx="1900714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MEDICAL_RECORD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543205" y="4144804"/>
            <a:ext cx="6402943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Diagnosis &amp; treatment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32209" y="4692134"/>
            <a:ext cx="6706910" cy="1484233"/>
          </a:xfrm>
          <a:prstGeom prst="roundRect">
            <a:avLst>
              <a:gd name="adj" fmla="val 1537"/>
            </a:avLst>
          </a:prstGeom>
          <a:solidFill>
            <a:srgbClr val="F0EDE6"/>
          </a:solidFill>
          <a:ln/>
        </p:spPr>
      </p:sp>
      <p:sp>
        <p:nvSpPr>
          <p:cNvPr id="25" name="Shape 19"/>
          <p:cNvSpPr/>
          <p:nvPr/>
        </p:nvSpPr>
        <p:spPr>
          <a:xfrm>
            <a:off x="684252" y="4844177"/>
            <a:ext cx="456128" cy="456128"/>
          </a:xfrm>
          <a:prstGeom prst="roundRect">
            <a:avLst>
              <a:gd name="adj" fmla="val 20045000"/>
            </a:avLst>
          </a:prstGeom>
          <a:solidFill>
            <a:srgbClr val="1B5F39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9625" y="4969550"/>
            <a:ext cx="205264" cy="2052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4252" y="5452348"/>
            <a:ext cx="1900714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BILLING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684252" y="5781080"/>
            <a:ext cx="6402824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Financial transactions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391162" y="4692134"/>
            <a:ext cx="6707029" cy="1484233"/>
          </a:xfrm>
          <a:prstGeom prst="roundRect">
            <a:avLst>
              <a:gd name="adj" fmla="val 1537"/>
            </a:avLst>
          </a:prstGeom>
          <a:solidFill>
            <a:srgbClr val="F0EDE6"/>
          </a:solidFill>
          <a:ln/>
        </p:spPr>
      </p:sp>
      <p:sp>
        <p:nvSpPr>
          <p:cNvPr id="30" name="Shape 23"/>
          <p:cNvSpPr/>
          <p:nvPr/>
        </p:nvSpPr>
        <p:spPr>
          <a:xfrm>
            <a:off x="7543205" y="4844177"/>
            <a:ext cx="456128" cy="456128"/>
          </a:xfrm>
          <a:prstGeom prst="roundRect">
            <a:avLst>
              <a:gd name="adj" fmla="val 20045000"/>
            </a:avLst>
          </a:prstGeom>
          <a:solidFill>
            <a:srgbClr val="1B5F39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68578" y="4969550"/>
            <a:ext cx="205264" cy="2052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543205" y="5452348"/>
            <a:ext cx="1900714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STAFF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7543205" y="5781080"/>
            <a:ext cx="6402943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Employee management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532209" y="6328410"/>
            <a:ext cx="6706910" cy="1484233"/>
          </a:xfrm>
          <a:prstGeom prst="roundRect">
            <a:avLst>
              <a:gd name="adj" fmla="val 1537"/>
            </a:avLst>
          </a:prstGeom>
          <a:solidFill>
            <a:srgbClr val="F0EDE6"/>
          </a:solidFill>
          <a:ln/>
        </p:spPr>
      </p:sp>
      <p:sp>
        <p:nvSpPr>
          <p:cNvPr id="35" name="Shape 27"/>
          <p:cNvSpPr/>
          <p:nvPr/>
        </p:nvSpPr>
        <p:spPr>
          <a:xfrm>
            <a:off x="684252" y="6480453"/>
            <a:ext cx="456128" cy="456128"/>
          </a:xfrm>
          <a:prstGeom prst="roundRect">
            <a:avLst>
              <a:gd name="adj" fmla="val 20045000"/>
            </a:avLst>
          </a:prstGeom>
          <a:solidFill>
            <a:srgbClr val="1B5F39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9625" y="6605826"/>
            <a:ext cx="205264" cy="20526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84252" y="7088624"/>
            <a:ext cx="1900714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DEPARTMENT</a:t>
            </a:r>
            <a:endParaRPr lang="en-US" sz="1450" dirty="0"/>
          </a:p>
        </p:txBody>
      </p:sp>
      <p:sp>
        <p:nvSpPr>
          <p:cNvPr id="38" name="Text 29"/>
          <p:cNvSpPr/>
          <p:nvPr/>
        </p:nvSpPr>
        <p:spPr>
          <a:xfrm>
            <a:off x="684252" y="7417356"/>
            <a:ext cx="6402824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Hospital departments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7391162" y="6328410"/>
            <a:ext cx="6707029" cy="1484233"/>
          </a:xfrm>
          <a:prstGeom prst="roundRect">
            <a:avLst>
              <a:gd name="adj" fmla="val 1537"/>
            </a:avLst>
          </a:prstGeom>
          <a:solidFill>
            <a:srgbClr val="F0EDE6"/>
          </a:solidFill>
          <a:ln/>
        </p:spPr>
      </p:sp>
      <p:sp>
        <p:nvSpPr>
          <p:cNvPr id="40" name="Shape 31"/>
          <p:cNvSpPr/>
          <p:nvPr/>
        </p:nvSpPr>
        <p:spPr>
          <a:xfrm>
            <a:off x="7543205" y="6480453"/>
            <a:ext cx="456128" cy="456128"/>
          </a:xfrm>
          <a:prstGeom prst="roundRect">
            <a:avLst>
              <a:gd name="adj" fmla="val 20045000"/>
            </a:avLst>
          </a:prstGeom>
          <a:solidFill>
            <a:srgbClr val="1B5F39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668578" y="6605826"/>
            <a:ext cx="205264" cy="20526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543205" y="7088624"/>
            <a:ext cx="1900714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USER</a:t>
            </a:r>
            <a:endParaRPr lang="en-US" sz="1450" dirty="0"/>
          </a:p>
        </p:txBody>
      </p:sp>
      <p:sp>
        <p:nvSpPr>
          <p:cNvPr id="43" name="Text 33"/>
          <p:cNvSpPr/>
          <p:nvPr/>
        </p:nvSpPr>
        <p:spPr>
          <a:xfrm>
            <a:off x="7543205" y="7417356"/>
            <a:ext cx="6402943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Access control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0138"/>
            <a:ext cx="32199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5F39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ENTITY RELATIONSHIPS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5451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Entity Relationships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2594134"/>
            <a:ext cx="13042821" cy="3917156"/>
          </a:xfrm>
          <a:prstGeom prst="roundRect">
            <a:avLst>
              <a:gd name="adj" fmla="val 86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60175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462" y="2745462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Relationship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637717" y="2745462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Entities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848725" y="2745462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Cardinality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454170" y="2745462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Books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325207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462" y="3395782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Schedules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3637717" y="3395782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PATIENT → APPOINTMENT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848725" y="3395782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1:N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1454170" y="3395782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Books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01410" y="390239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28462" y="4046101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Schedules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3637717" y="4046101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DOCTOR → APPOINTMENT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8848725" y="4046101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1:N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1454170" y="4046101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Schedules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4552712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462" y="4696420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Has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3637717" y="4696420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PATIENT → MEDICAL_RECORD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8848725" y="4696420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1:N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1454170" y="4696420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Has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801410" y="520303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28462" y="5346740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Creates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3637717" y="5346740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DOCTOR → MEDICAL_RECORD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8848725" y="5346740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1:N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11454170" y="5346740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Creates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801410" y="5853351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028462" y="5997059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Generates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3637717" y="5997059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APPOINTMENT → BILLING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8848725" y="5997059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1:1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11454170" y="5997059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Generates</a:t>
            </a:r>
            <a:endParaRPr lang="en-US" sz="1750" dirty="0"/>
          </a:p>
        </p:txBody>
      </p:sp>
      <p:sp>
        <p:nvSpPr>
          <p:cNvPr id="35" name="Text 33"/>
          <p:cNvSpPr/>
          <p:nvPr/>
        </p:nvSpPr>
        <p:spPr>
          <a:xfrm>
            <a:off x="793790" y="676644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These relationships form the backbone of our relational database, ensuring data integrity and efficient querying.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20595" y="200500"/>
            <a:ext cx="2552302" cy="4349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1B5F39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ENTITY </a:t>
            </a:r>
            <a:r>
              <a:rPr lang="en-US" sz="2200" dirty="0" smtClean="0">
                <a:solidFill>
                  <a:srgbClr val="1B5F39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DIAGRAM</a:t>
            </a:r>
            <a:endParaRPr lang="en-US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288" y="752927"/>
            <a:ext cx="11244916" cy="747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386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133" y="690563"/>
            <a:ext cx="2425660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1B5F39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NORMALIZATION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79133" y="1071205"/>
            <a:ext cx="4851440" cy="606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Achieved 3NF/BCNF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79133" y="2162532"/>
            <a:ext cx="2910840" cy="363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Normalization Steps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79133" y="2720340"/>
            <a:ext cx="6399371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1NF:</a:t>
            </a: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Atomic values, no repeating groups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9133" y="3098721"/>
            <a:ext cx="6399371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2NF:</a:t>
            </a: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No partial dependencies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9133" y="3477101"/>
            <a:ext cx="6399371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3NF:</a:t>
            </a: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No transitive dependencies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9133" y="3855482"/>
            <a:ext cx="6399371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BCNF:</a:t>
            </a: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Every determinant is a candidate key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59516" y="2162532"/>
            <a:ext cx="2910840" cy="363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Benefits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7559516" y="2841546"/>
            <a:ext cx="3078361" cy="640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5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85%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7559516" y="3724275"/>
            <a:ext cx="3078361" cy="60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 Redundancy Reduction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559516" y="4524494"/>
            <a:ext cx="3078361" cy="62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Eliminated data redundancy by 85%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880408" y="2841546"/>
            <a:ext cx="3078480" cy="640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5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—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11206758" y="3724275"/>
            <a:ext cx="2425660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Improved Integrity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880408" y="4221361"/>
            <a:ext cx="3078480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Improved data integrity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219962" y="5630466"/>
            <a:ext cx="3078361" cy="640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5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—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9546312" y="6513195"/>
            <a:ext cx="2425660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Easier Maintenance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219962" y="7010281"/>
            <a:ext cx="3078361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Easier maintenance and updates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083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System Modules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032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system is structured around six core modules, each designed for specific user roles and functions.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721293"/>
            <a:ext cx="13042821" cy="4567476"/>
          </a:xfrm>
          <a:prstGeom prst="roundRect">
            <a:avLst>
              <a:gd name="adj" fmla="val 74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72891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343" y="2872621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Module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637598" y="2872621"/>
            <a:ext cx="9964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Features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379232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343" y="3522940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Admin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3637598" y="3522940"/>
            <a:ext cx="9964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Complete system control, user management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402955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28343" y="4173260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Patient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3637598" y="4173260"/>
            <a:ext cx="9964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Registration, history, appointments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4679871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343" y="4823579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Doctor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3637598" y="4823579"/>
            <a:ext cx="9964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Schedule, medical records, prescriptions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533019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8343" y="5473898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Appointment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3637598" y="5473898"/>
            <a:ext cx="9964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Booking, conflict detection, reminders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5980509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343" y="6124218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Billing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3637598" y="6124218"/>
            <a:ext cx="9964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Invoicing, payments, financial reports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801410" y="6630829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28343" y="6774537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Staff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3637598" y="6774537"/>
            <a:ext cx="9964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Employee records, salary (encrypted)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65020"/>
            <a:ext cx="58676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Features - Security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2742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Security was a paramount concern in the system design, incorporating multiple layers of protection.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845481"/>
            <a:ext cx="4196358" cy="1223248"/>
          </a:xfrm>
          <a:prstGeom prst="roundRect">
            <a:avLst>
              <a:gd name="adj" fmla="val 11960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845481"/>
            <a:ext cx="121920" cy="1223248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4102775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Role-based access control (RBAC)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216962" y="3845481"/>
            <a:ext cx="4196358" cy="1223248"/>
          </a:xfrm>
          <a:prstGeom prst="roundRect">
            <a:avLst>
              <a:gd name="adj" fmla="val 11960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3845481"/>
            <a:ext cx="121920" cy="1223248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4102775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AES-256 encryption for sensitive data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640133" y="3845481"/>
            <a:ext cx="4196358" cy="1223248"/>
          </a:xfrm>
          <a:prstGeom prst="roundRect">
            <a:avLst>
              <a:gd name="adj" fmla="val 11960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9653" y="3845481"/>
            <a:ext cx="121920" cy="1223248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12" name="Text 10"/>
          <p:cNvSpPr/>
          <p:nvPr/>
        </p:nvSpPr>
        <p:spPr>
          <a:xfrm>
            <a:off x="9988868" y="4102775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Password hashing with BCrypt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93790" y="5295543"/>
            <a:ext cx="4196358" cy="868918"/>
          </a:xfrm>
          <a:prstGeom prst="roundRect">
            <a:avLst>
              <a:gd name="adj" fmla="val 16837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310" y="5295543"/>
            <a:ext cx="121920" cy="868918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15" name="Text 13"/>
          <p:cNvSpPr/>
          <p:nvPr/>
        </p:nvSpPr>
        <p:spPr>
          <a:xfrm>
            <a:off x="1142524" y="5552837"/>
            <a:ext cx="31632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SQL injection prevention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216962" y="5295543"/>
            <a:ext cx="4196358" cy="868918"/>
          </a:xfrm>
          <a:prstGeom prst="roundRect">
            <a:avLst>
              <a:gd name="adj" fmla="val 16837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86482" y="5295543"/>
            <a:ext cx="121920" cy="868918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18" name="Text 16"/>
          <p:cNvSpPr/>
          <p:nvPr/>
        </p:nvSpPr>
        <p:spPr>
          <a:xfrm>
            <a:off x="5565696" y="55528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Audit logging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2080" y="355163"/>
            <a:ext cx="4118610" cy="40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Advanced Database Features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2080" y="1017270"/>
            <a:ext cx="13726239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Leveraging advanced database capabilities ensures performance, consistency, and integrity.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2080" y="1498402"/>
            <a:ext cx="1873210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Performance &amp; Efficiency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2080" y="1829395"/>
            <a:ext cx="6705600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Stored Procedures:</a:t>
            </a: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12 procedures for complex operations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2080" y="2081212"/>
            <a:ext cx="6705600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Indexes:</a:t>
            </a: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15 strategic indexes for performance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2080" y="2333030"/>
            <a:ext cx="6705600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Views:</a:t>
            </a: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6 reporting views for analytics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80340" y="1498402"/>
            <a:ext cx="1728907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Integrity &amp; Automation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80340" y="1829395"/>
            <a:ext cx="6705600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Triggers:</a:t>
            </a: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5 automation triggers for data consistency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80340" y="2081212"/>
            <a:ext cx="6705600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Transactions:</a:t>
            </a: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ACID compliance for data integrity</a:t>
            </a:r>
            <a:endParaRPr lang="en-US" sz="1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80" y="2730103"/>
            <a:ext cx="13726239" cy="712708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54577" y="6094831"/>
            <a:ext cx="1693827" cy="381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Database</a:t>
            </a:r>
            <a:endParaRPr lang="en-US" sz="13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483591" y="4620143"/>
            <a:ext cx="344694" cy="34469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6870" y="4200921"/>
            <a:ext cx="2967584" cy="381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Stored Procedures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76870" y="4690436"/>
            <a:ext cx="2967584" cy="609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Encapsulated logic for consistent operations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0885628" y="4200921"/>
            <a:ext cx="2967584" cy="381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Triggers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10885628" y="4690436"/>
            <a:ext cx="2967584" cy="609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Automated responses to data changes</a:t>
            </a:r>
            <a:endParaRPr lang="en-US" sz="10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762839" y="3888410"/>
            <a:ext cx="344694" cy="344694"/>
          </a:xfrm>
          <a:prstGeom prst="rect">
            <a:avLst/>
          </a:prstGeom>
        </p:spPr>
      </p:pic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846712" y="7574177"/>
            <a:ext cx="344694" cy="34469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6870" y="7371764"/>
            <a:ext cx="2967584" cy="381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776870" y="7861280"/>
            <a:ext cx="2967584" cy="609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Atomic units ensuring data integrity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0885628" y="7371764"/>
            <a:ext cx="2967584" cy="381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Indexes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0885628" y="7861280"/>
            <a:ext cx="2967584" cy="609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Optimized lookup for query performance</a:t>
            </a:r>
            <a:endParaRPr lang="en-US" sz="10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9101604" y="8698877"/>
            <a:ext cx="344694" cy="34469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4855" y="591503"/>
            <a:ext cx="6482715" cy="665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Implementation Highlights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44855" y="1894999"/>
            <a:ext cx="7654290" cy="2812971"/>
          </a:xfrm>
          <a:prstGeom prst="roundRect">
            <a:avLst>
              <a:gd name="adj" fmla="val 3901"/>
            </a:avLst>
          </a:prstGeom>
          <a:solidFill>
            <a:srgbClr val="FCFBF8"/>
          </a:solidFill>
          <a:ln/>
        </p:spPr>
      </p:sp>
      <p:sp>
        <p:nvSpPr>
          <p:cNvPr id="5" name="Shape 2"/>
          <p:cNvSpPr/>
          <p:nvPr/>
        </p:nvSpPr>
        <p:spPr>
          <a:xfrm>
            <a:off x="744855" y="1872139"/>
            <a:ext cx="7654290" cy="91440"/>
          </a:xfrm>
          <a:prstGeom prst="roundRect">
            <a:avLst>
              <a:gd name="adj" fmla="val 34914"/>
            </a:avLst>
          </a:prstGeom>
          <a:solidFill>
            <a:srgbClr val="1B5F39"/>
          </a:solidFill>
          <a:ln/>
        </p:spPr>
      </p:sp>
      <p:sp>
        <p:nvSpPr>
          <p:cNvPr id="6" name="Shape 3"/>
          <p:cNvSpPr/>
          <p:nvPr/>
        </p:nvSpPr>
        <p:spPr>
          <a:xfrm>
            <a:off x="4252793" y="1575792"/>
            <a:ext cx="638413" cy="638413"/>
          </a:xfrm>
          <a:prstGeom prst="roundRect">
            <a:avLst>
              <a:gd name="adj" fmla="val 143230"/>
            </a:avLst>
          </a:prstGeom>
          <a:solidFill>
            <a:srgbClr val="1B5F39"/>
          </a:solidFill>
          <a:ln/>
        </p:spPr>
      </p:sp>
      <p:sp>
        <p:nvSpPr>
          <p:cNvPr id="7" name="Text 4"/>
          <p:cNvSpPr/>
          <p:nvPr/>
        </p:nvSpPr>
        <p:spPr>
          <a:xfrm>
            <a:off x="4444246" y="1735336"/>
            <a:ext cx="255389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80480" y="2426970"/>
            <a:ext cx="2660333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Database Layer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980480" y="2887028"/>
            <a:ext cx="7183041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 normalized tables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980480" y="3301960"/>
            <a:ext cx="7183041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Foreign key constraints for referential integrity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80480" y="3716893"/>
            <a:ext cx="7183041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CHECK constraints for data validation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980480" y="4131826"/>
            <a:ext cx="7183041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Default values and timestamps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744855" y="5239941"/>
            <a:ext cx="7654290" cy="2398038"/>
          </a:xfrm>
          <a:prstGeom prst="roundRect">
            <a:avLst>
              <a:gd name="adj" fmla="val 4576"/>
            </a:avLst>
          </a:prstGeom>
          <a:solidFill>
            <a:srgbClr val="FCFBF8"/>
          </a:solidFill>
          <a:ln/>
        </p:spPr>
      </p:sp>
      <p:sp>
        <p:nvSpPr>
          <p:cNvPr id="14" name="Shape 11"/>
          <p:cNvSpPr/>
          <p:nvPr/>
        </p:nvSpPr>
        <p:spPr>
          <a:xfrm>
            <a:off x="744855" y="5217081"/>
            <a:ext cx="7654290" cy="91440"/>
          </a:xfrm>
          <a:prstGeom prst="roundRect">
            <a:avLst>
              <a:gd name="adj" fmla="val 34914"/>
            </a:avLst>
          </a:prstGeom>
          <a:solidFill>
            <a:srgbClr val="1B5F39"/>
          </a:solidFill>
          <a:ln/>
        </p:spPr>
      </p:sp>
      <p:sp>
        <p:nvSpPr>
          <p:cNvPr id="15" name="Shape 12"/>
          <p:cNvSpPr/>
          <p:nvPr/>
        </p:nvSpPr>
        <p:spPr>
          <a:xfrm>
            <a:off x="4252793" y="4920734"/>
            <a:ext cx="638413" cy="638413"/>
          </a:xfrm>
          <a:prstGeom prst="roundRect">
            <a:avLst>
              <a:gd name="adj" fmla="val 143230"/>
            </a:avLst>
          </a:prstGeom>
          <a:solidFill>
            <a:srgbClr val="1B5F39"/>
          </a:solidFill>
          <a:ln/>
        </p:spPr>
      </p:sp>
      <p:sp>
        <p:nvSpPr>
          <p:cNvPr id="16" name="Text 13"/>
          <p:cNvSpPr/>
          <p:nvPr/>
        </p:nvSpPr>
        <p:spPr>
          <a:xfrm>
            <a:off x="4444246" y="5080278"/>
            <a:ext cx="255389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980480" y="5771912"/>
            <a:ext cx="2660333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Application Layer</a:t>
            </a:r>
            <a:endParaRPr lang="en-US" sz="2050" dirty="0"/>
          </a:p>
        </p:txBody>
      </p:sp>
      <p:sp>
        <p:nvSpPr>
          <p:cNvPr id="18" name="Text 15"/>
          <p:cNvSpPr/>
          <p:nvPr/>
        </p:nvSpPr>
        <p:spPr>
          <a:xfrm>
            <a:off x="980480" y="6231969"/>
            <a:ext cx="7183041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MVC architecture pattern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980480" y="6646902"/>
            <a:ext cx="7183041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Prepared statements for security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980480" y="7061835"/>
            <a:ext cx="7183041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Responsive web interface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25278"/>
            <a:ext cx="100644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Testing &amp; Results: Performance Metrics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8768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system exceeded all key performance targets during testing.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119086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0.8 sec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900113" y="51508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Response Time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641300"/>
            <a:ext cx="304800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Target: &lt; 2 sec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125278" y="4119086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100+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4231719" y="51508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Concurrent Users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25278" y="5641300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Target: 50+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456884" y="4119086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99.7%</a:t>
            </a:r>
            <a:endParaRPr lang="en-US" sz="5850" dirty="0"/>
          </a:p>
        </p:txBody>
      </p:sp>
      <p:sp>
        <p:nvSpPr>
          <p:cNvPr id="11" name="Text 9"/>
          <p:cNvSpPr/>
          <p:nvPr/>
        </p:nvSpPr>
        <p:spPr>
          <a:xfrm>
            <a:off x="7563326" y="51508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Database Uptime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56884" y="5641300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Target: &gt; 99%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788491" y="4119086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93%</a:t>
            </a:r>
            <a:endParaRPr lang="en-US" sz="5850" dirty="0"/>
          </a:p>
        </p:txBody>
      </p:sp>
      <p:sp>
        <p:nvSpPr>
          <p:cNvPr id="14" name="Text 12"/>
          <p:cNvSpPr/>
          <p:nvPr/>
        </p:nvSpPr>
        <p:spPr>
          <a:xfrm>
            <a:off x="10894933" y="51508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Query Performance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788491" y="5641300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Faster than baseline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16311"/>
            <a:ext cx="103387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Benefits Realized: Operational Efficiency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7871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new system dramatically reduces time spent on critical administrative tasks.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696772"/>
            <a:ext cx="13042821" cy="2616518"/>
          </a:xfrm>
          <a:prstGeom prst="roundRect">
            <a:avLst>
              <a:gd name="adj" fmla="val 130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70439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462" y="3848100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Patient Registration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289108" y="3848100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15 min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45943" y="3848100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 min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802779" y="3848100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85% faster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4354711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462" y="4498419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Record Retrieval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289108" y="4498419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 min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45943" y="4498419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15 sec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802779" y="4498419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95% faster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01410" y="500503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28462" y="5148739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Billing Process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4289108" y="5148739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 min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45943" y="5148739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 min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802779" y="5148739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90% faster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5655350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462" y="579905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Report Generation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289108" y="579905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 hours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545943" y="579905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 min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0802779" y="579905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98% faster</a:t>
            </a:r>
            <a:endParaRPr lang="en-US" sz="1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875" y="568166"/>
            <a:ext cx="8211026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 smtClean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4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Testing &amp; Security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6875" y="1720215"/>
            <a:ext cx="3072408" cy="384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6875" y="2309098"/>
            <a:ext cx="6348532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11" name="Text 3"/>
          <p:cNvSpPr/>
          <p:nvPr/>
        </p:nvSpPr>
        <p:spPr>
          <a:xfrm>
            <a:off x="2802850" y="2919293"/>
            <a:ext cx="308015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2000" dirty="0"/>
          </a:p>
        </p:txBody>
      </p:sp>
      <p:sp>
        <p:nvSpPr>
          <p:cNvPr id="12" name="Text 4"/>
          <p:cNvSpPr/>
          <p:nvPr/>
        </p:nvSpPr>
        <p:spPr>
          <a:xfrm>
            <a:off x="716875" y="3381018"/>
            <a:ext cx="2560320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2000" dirty="0"/>
          </a:p>
        </p:txBody>
      </p:sp>
      <p:sp>
        <p:nvSpPr>
          <p:cNvPr id="19" name="Text 5"/>
          <p:cNvSpPr/>
          <p:nvPr/>
        </p:nvSpPr>
        <p:spPr>
          <a:xfrm>
            <a:off x="2802850" y="4162663"/>
            <a:ext cx="292894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2000" dirty="0"/>
          </a:p>
        </p:txBody>
      </p:sp>
      <p:sp>
        <p:nvSpPr>
          <p:cNvPr id="20" name="Text 6"/>
          <p:cNvSpPr/>
          <p:nvPr/>
        </p:nvSpPr>
        <p:spPr>
          <a:xfrm>
            <a:off x="716875" y="4624388"/>
            <a:ext cx="2560320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2000" dirty="0"/>
          </a:p>
        </p:txBody>
      </p:sp>
      <p:sp>
        <p:nvSpPr>
          <p:cNvPr id="27" name="Text 7"/>
          <p:cNvSpPr/>
          <p:nvPr/>
        </p:nvSpPr>
        <p:spPr>
          <a:xfrm>
            <a:off x="2777621" y="5342095"/>
            <a:ext cx="314206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2000" dirty="0"/>
          </a:p>
        </p:txBody>
      </p:sp>
      <p:sp>
        <p:nvSpPr>
          <p:cNvPr id="28" name="Text 8"/>
          <p:cNvSpPr/>
          <p:nvPr/>
        </p:nvSpPr>
        <p:spPr>
          <a:xfrm>
            <a:off x="716875" y="5867757"/>
            <a:ext cx="2560320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2000" dirty="0"/>
          </a:p>
        </p:txBody>
      </p:sp>
      <p:sp>
        <p:nvSpPr>
          <p:cNvPr id="35" name="Text 9"/>
          <p:cNvSpPr/>
          <p:nvPr/>
        </p:nvSpPr>
        <p:spPr>
          <a:xfrm>
            <a:off x="2802850" y="6649403"/>
            <a:ext cx="314206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2000" dirty="0"/>
          </a:p>
        </p:txBody>
      </p:sp>
      <p:sp>
        <p:nvSpPr>
          <p:cNvPr id="36" name="Text 10"/>
          <p:cNvSpPr/>
          <p:nvPr/>
        </p:nvSpPr>
        <p:spPr>
          <a:xfrm>
            <a:off x="3775492" y="6951165"/>
            <a:ext cx="2560320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2000" dirty="0"/>
          </a:p>
        </p:txBody>
      </p:sp>
      <p:sp>
        <p:nvSpPr>
          <p:cNvPr id="37" name="Text 11"/>
          <p:cNvSpPr/>
          <p:nvPr/>
        </p:nvSpPr>
        <p:spPr>
          <a:xfrm>
            <a:off x="842690" y="1800721"/>
            <a:ext cx="3316724" cy="384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Security Testing Results</a:t>
            </a:r>
            <a:endParaRPr lang="en-US" sz="3200" dirty="0"/>
          </a:p>
        </p:txBody>
      </p:sp>
      <p:sp>
        <p:nvSpPr>
          <p:cNvPr id="38" name="Text 12"/>
          <p:cNvSpPr/>
          <p:nvPr/>
        </p:nvSpPr>
        <p:spPr>
          <a:xfrm>
            <a:off x="842690" y="2280107"/>
            <a:ext cx="6348532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b="1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All Security Tests Passed ✓</a:t>
            </a:r>
            <a:endParaRPr lang="en-US" sz="2400" dirty="0"/>
          </a:p>
        </p:txBody>
      </p:sp>
      <p:sp>
        <p:nvSpPr>
          <p:cNvPr id="39" name="Text 13"/>
          <p:cNvSpPr/>
          <p:nvPr/>
        </p:nvSpPr>
        <p:spPr>
          <a:xfrm>
            <a:off x="842690" y="2812554"/>
            <a:ext cx="6348532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SQL Injection:</a:t>
            </a: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All attack vectors blocked</a:t>
            </a:r>
            <a:endParaRPr lang="en-US" dirty="0"/>
          </a:p>
        </p:txBody>
      </p:sp>
      <p:sp>
        <p:nvSpPr>
          <p:cNvPr id="40" name="Text 14"/>
          <p:cNvSpPr/>
          <p:nvPr/>
        </p:nvSpPr>
        <p:spPr>
          <a:xfrm>
            <a:off x="842690" y="3189872"/>
            <a:ext cx="6348532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Authentication:</a:t>
            </a: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BCrypt hashing working</a:t>
            </a:r>
            <a:endParaRPr lang="en-US" dirty="0"/>
          </a:p>
        </p:txBody>
      </p:sp>
      <p:sp>
        <p:nvSpPr>
          <p:cNvPr id="41" name="Text 15"/>
          <p:cNvSpPr/>
          <p:nvPr/>
        </p:nvSpPr>
        <p:spPr>
          <a:xfrm>
            <a:off x="842690" y="3556814"/>
            <a:ext cx="6348532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Access Control:</a:t>
            </a: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RBAC properly enforced</a:t>
            </a:r>
            <a:endParaRPr lang="en-US" dirty="0"/>
          </a:p>
        </p:txBody>
      </p:sp>
      <p:sp>
        <p:nvSpPr>
          <p:cNvPr id="42" name="Text 16"/>
          <p:cNvSpPr/>
          <p:nvPr/>
        </p:nvSpPr>
        <p:spPr>
          <a:xfrm>
            <a:off x="842690" y="3968025"/>
            <a:ext cx="6348532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Encryption:</a:t>
            </a: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AES-256 verified</a:t>
            </a:r>
            <a:endParaRPr lang="en-US" dirty="0"/>
          </a:p>
        </p:txBody>
      </p:sp>
      <p:sp>
        <p:nvSpPr>
          <p:cNvPr id="43" name="Text 17"/>
          <p:cNvSpPr/>
          <p:nvPr/>
        </p:nvSpPr>
        <p:spPr>
          <a:xfrm>
            <a:off x="842690" y="4339187"/>
            <a:ext cx="6348532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Session Security:</a:t>
            </a: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Auto-logout implemented</a:t>
            </a:r>
            <a:endParaRPr lang="en-US" dirty="0"/>
          </a:p>
        </p:txBody>
      </p:sp>
      <p:sp>
        <p:nvSpPr>
          <p:cNvPr id="44" name="Text 18"/>
          <p:cNvSpPr/>
          <p:nvPr/>
        </p:nvSpPr>
        <p:spPr>
          <a:xfrm>
            <a:off x="842690" y="4708758"/>
            <a:ext cx="6348532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Security Incidents:</a:t>
            </a: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Zero during testing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4582" y="1138084"/>
            <a:ext cx="3582591" cy="447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906625" y="2945130"/>
            <a:ext cx="214908" cy="268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047173" y="1128713"/>
            <a:ext cx="1933813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4723" y="1438632"/>
            <a:ext cx="8738711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5">
              <a:lnSpc>
                <a:spcPts val="1800"/>
              </a:lnSpc>
              <a:buSzPct val="100000"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4723" y="1718072"/>
            <a:ext cx="8738711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4723" y="1997512"/>
            <a:ext cx="8738711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4723" y="2276951"/>
            <a:ext cx="8738711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90198" y="3842386"/>
            <a:ext cx="8738711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46846" y="4241959"/>
            <a:ext cx="8738711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46846" y="4521398"/>
            <a:ext cx="8738711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46846" y="4800838"/>
            <a:ext cx="8738711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r>
              <a:rPr lang="en-US" sz="110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723" y="1406808"/>
            <a:ext cx="2866073" cy="358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6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Challenges Overcome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37847" y="2126876"/>
            <a:ext cx="13627418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hurdles successfully navigated during development: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37847" y="2581003"/>
            <a:ext cx="13627418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Designing normalized schema while maintaining performance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4723" y="2984974"/>
            <a:ext cx="13627418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Implementing complex business logic through triggers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5709" y="3392688"/>
            <a:ext cx="13627418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Balancing security with usability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7847" y="3756621"/>
            <a:ext cx="13627418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Ensuring data consistency across concurrent transactions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37847" y="4160592"/>
            <a:ext cx="13627418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Optimizing queries for large datasets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7847" y="4517536"/>
            <a:ext cx="13627418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Handling CNIC and Pakistani phone number formats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74213"/>
            <a:ext cx="340256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Conclusion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476250" y="1071682"/>
            <a:ext cx="6770846" cy="1029176"/>
          </a:xfrm>
          <a:prstGeom prst="roundRect">
            <a:avLst>
              <a:gd name="adj" fmla="val 1984"/>
            </a:avLst>
          </a:prstGeom>
          <a:solidFill>
            <a:srgbClr val="F0EDE6"/>
          </a:solidFill>
          <a:ln/>
        </p:spPr>
      </p:sp>
      <p:sp>
        <p:nvSpPr>
          <p:cNvPr id="4" name="Shape 2"/>
          <p:cNvSpPr/>
          <p:nvPr/>
        </p:nvSpPr>
        <p:spPr>
          <a:xfrm>
            <a:off x="612338" y="1207770"/>
            <a:ext cx="408265" cy="408265"/>
          </a:xfrm>
          <a:prstGeom prst="roundRect">
            <a:avLst>
              <a:gd name="adj" fmla="val 22394978"/>
            </a:avLst>
          </a:prstGeom>
          <a:solidFill>
            <a:srgbClr val="1B5F3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24614" y="1320046"/>
            <a:ext cx="183713" cy="1837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2338" y="1752124"/>
            <a:ext cx="4527709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Successfully designed &amp; implemented normalized database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83185" y="1071682"/>
            <a:ext cx="6770965" cy="1029176"/>
          </a:xfrm>
          <a:prstGeom prst="roundRect">
            <a:avLst>
              <a:gd name="adj" fmla="val 1984"/>
            </a:avLst>
          </a:prstGeom>
          <a:solidFill>
            <a:srgbClr val="F0EDE6"/>
          </a:solidFill>
          <a:ln/>
        </p:spPr>
      </p:sp>
      <p:sp>
        <p:nvSpPr>
          <p:cNvPr id="8" name="Shape 5"/>
          <p:cNvSpPr/>
          <p:nvPr/>
        </p:nvSpPr>
        <p:spPr>
          <a:xfrm>
            <a:off x="7519273" y="1207770"/>
            <a:ext cx="408265" cy="408265"/>
          </a:xfrm>
          <a:prstGeom prst="roundRect">
            <a:avLst>
              <a:gd name="adj" fmla="val 22394978"/>
            </a:avLst>
          </a:prstGeom>
          <a:solidFill>
            <a:srgbClr val="1B5F39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631549" y="1320046"/>
            <a:ext cx="183713" cy="18371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19273" y="1752124"/>
            <a:ext cx="3614499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Achieved 93% query performance improvement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76250" y="2236946"/>
            <a:ext cx="6770846" cy="1029176"/>
          </a:xfrm>
          <a:prstGeom prst="roundRect">
            <a:avLst>
              <a:gd name="adj" fmla="val 1984"/>
            </a:avLst>
          </a:prstGeom>
          <a:solidFill>
            <a:srgbClr val="F0EDE6"/>
          </a:solidFill>
          <a:ln/>
        </p:spPr>
      </p:sp>
      <p:sp>
        <p:nvSpPr>
          <p:cNvPr id="12" name="Shape 8"/>
          <p:cNvSpPr/>
          <p:nvPr/>
        </p:nvSpPr>
        <p:spPr>
          <a:xfrm>
            <a:off x="612338" y="2373035"/>
            <a:ext cx="408265" cy="408265"/>
          </a:xfrm>
          <a:prstGeom prst="roundRect">
            <a:avLst>
              <a:gd name="adj" fmla="val 22394978"/>
            </a:avLst>
          </a:prstGeom>
          <a:solidFill>
            <a:srgbClr val="1B5F39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724614" y="2485311"/>
            <a:ext cx="183713" cy="18371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338" y="2917388"/>
            <a:ext cx="2768679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Reduced operational time by 85-98%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383185" y="2236946"/>
            <a:ext cx="6770965" cy="1029176"/>
          </a:xfrm>
          <a:prstGeom prst="roundRect">
            <a:avLst>
              <a:gd name="adj" fmla="val 1984"/>
            </a:avLst>
          </a:prstGeom>
          <a:solidFill>
            <a:srgbClr val="F0EDE6"/>
          </a:solidFill>
          <a:ln/>
        </p:spPr>
      </p:sp>
      <p:sp>
        <p:nvSpPr>
          <p:cNvPr id="16" name="Shape 11"/>
          <p:cNvSpPr/>
          <p:nvPr/>
        </p:nvSpPr>
        <p:spPr>
          <a:xfrm>
            <a:off x="7519273" y="2373035"/>
            <a:ext cx="408265" cy="408265"/>
          </a:xfrm>
          <a:prstGeom prst="roundRect">
            <a:avLst>
              <a:gd name="adj" fmla="val 22394978"/>
            </a:avLst>
          </a:prstGeom>
          <a:solidFill>
            <a:srgbClr val="1B5F39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7631549" y="2485311"/>
            <a:ext cx="183713" cy="18371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519273" y="2917388"/>
            <a:ext cx="2875836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Zero security incidents during testing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76250" y="3402211"/>
            <a:ext cx="6770846" cy="1029176"/>
          </a:xfrm>
          <a:prstGeom prst="roundRect">
            <a:avLst>
              <a:gd name="adj" fmla="val 1984"/>
            </a:avLst>
          </a:prstGeom>
          <a:solidFill>
            <a:srgbClr val="F0EDE6"/>
          </a:solidFill>
          <a:ln/>
        </p:spPr>
      </p:sp>
      <p:sp>
        <p:nvSpPr>
          <p:cNvPr id="20" name="Shape 14"/>
          <p:cNvSpPr/>
          <p:nvPr/>
        </p:nvSpPr>
        <p:spPr>
          <a:xfrm>
            <a:off x="612338" y="3538299"/>
            <a:ext cx="408265" cy="408265"/>
          </a:xfrm>
          <a:prstGeom prst="roundRect">
            <a:avLst>
              <a:gd name="adj" fmla="val 22394978"/>
            </a:avLst>
          </a:prstGeom>
          <a:solidFill>
            <a:srgbClr val="1B5F39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724614" y="3650575"/>
            <a:ext cx="183713" cy="18371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2338" y="4082653"/>
            <a:ext cx="227576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High user satisfaction (4.6/5.0)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7383185" y="3402211"/>
            <a:ext cx="6770965" cy="1029176"/>
          </a:xfrm>
          <a:prstGeom prst="roundRect">
            <a:avLst>
              <a:gd name="adj" fmla="val 1984"/>
            </a:avLst>
          </a:prstGeom>
          <a:solidFill>
            <a:srgbClr val="F0EDE6"/>
          </a:solidFill>
          <a:ln/>
        </p:spPr>
      </p:sp>
      <p:sp>
        <p:nvSpPr>
          <p:cNvPr id="24" name="Shape 17"/>
          <p:cNvSpPr/>
          <p:nvPr/>
        </p:nvSpPr>
        <p:spPr>
          <a:xfrm>
            <a:off x="7519273" y="3538299"/>
            <a:ext cx="408265" cy="408265"/>
          </a:xfrm>
          <a:prstGeom prst="roundRect">
            <a:avLst>
              <a:gd name="adj" fmla="val 22394978"/>
            </a:avLst>
          </a:prstGeom>
          <a:solidFill>
            <a:srgbClr val="1B5F39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7631549" y="3650575"/>
            <a:ext cx="183713" cy="18371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519273" y="4082653"/>
            <a:ext cx="2508647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Ready for real-world deployment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80323" y="4737616"/>
            <a:ext cx="1347382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This system demonstrates how proper database design creates powerful healthcare solutions.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476250" y="4584502"/>
            <a:ext cx="15240" cy="578406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29" name="Shape 21"/>
          <p:cNvSpPr/>
          <p:nvPr/>
        </p:nvSpPr>
        <p:spPr>
          <a:xfrm>
            <a:off x="476250" y="5383980"/>
            <a:ext cx="13677900" cy="24527"/>
          </a:xfrm>
          <a:prstGeom prst="rect">
            <a:avLst/>
          </a:prstGeom>
          <a:solidFill>
            <a:srgbClr val="2C2821">
              <a:alpha val="50000"/>
            </a:srgbClr>
          </a:solidFill>
          <a:ln/>
        </p:spPr>
      </p:sp>
      <p:sp>
        <p:nvSpPr>
          <p:cNvPr id="30" name="Text 22"/>
          <p:cNvSpPr/>
          <p:nvPr/>
        </p:nvSpPr>
        <p:spPr>
          <a:xfrm>
            <a:off x="476250" y="5612487"/>
            <a:ext cx="272200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Thank You!</a:t>
            </a:r>
            <a:endParaRPr lang="en-US" sz="2100" dirty="0"/>
          </a:p>
        </p:txBody>
      </p:sp>
      <p:sp>
        <p:nvSpPr>
          <p:cNvPr id="31" name="Text 23"/>
          <p:cNvSpPr/>
          <p:nvPr/>
        </p:nvSpPr>
        <p:spPr>
          <a:xfrm>
            <a:off x="476250" y="6156722"/>
            <a:ext cx="13677900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Presented by:</a:t>
            </a: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Layba &amp; Marwa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476250" y="6527483"/>
            <a:ext cx="13677900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Group 1 - BSAI 4th Semester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476250" y="6898243"/>
            <a:ext cx="13677900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Supervisor:</a:t>
            </a: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Mr. Anwar Ali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76250" y="7269004"/>
            <a:ext cx="13677900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Department of Computer Science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76250" y="7639764"/>
            <a:ext cx="13677900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BBSUL University, Karachi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904</Words>
  <Application>Microsoft Office PowerPoint</Application>
  <PresentationFormat>Custom</PresentationFormat>
  <Paragraphs>280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Calibri</vt:lpstr>
      <vt:lpstr>Arial</vt:lpstr>
      <vt:lpstr>Alice</vt:lpstr>
      <vt:lpstr>Lora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Layba Akram</dc:creator>
  <cp:lastModifiedBy>Microsoft account</cp:lastModifiedBy>
  <cp:revision>7</cp:revision>
  <dcterms:created xsi:type="dcterms:W3CDTF">2025-10-26T13:06:01Z</dcterms:created>
  <dcterms:modified xsi:type="dcterms:W3CDTF">2025-10-26T18:00:06Z</dcterms:modified>
</cp:coreProperties>
</file>